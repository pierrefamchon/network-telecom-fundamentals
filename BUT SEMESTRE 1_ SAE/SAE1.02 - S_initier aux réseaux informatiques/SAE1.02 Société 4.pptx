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DD06D2-7CC3-41D0-9C27-41F41C236CA0}">
  <a:tblStyle styleId="{B1DD06D2-7CC3-41D0-9C27-41F41C236C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regular.fntdata"/><Relationship Id="rId25" Type="http://schemas.openxmlformats.org/officeDocument/2006/relationships/slide" Target="slides/slide19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5.xml"/><Relationship Id="rId33" Type="http://schemas.openxmlformats.org/officeDocument/2006/relationships/font" Target="fonts/Lato-boldItalic.fntdata"/><Relationship Id="rId10" Type="http://schemas.openxmlformats.org/officeDocument/2006/relationships/slide" Target="slides/slide4.xml"/><Relationship Id="rId32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afc092064e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afc092064e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afc092064e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afc092064e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afc092064e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afc092064e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afc092064e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afc092064e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afc092064e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afc092064e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afc092064e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afc092064e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afc092064e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afc092064e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afc092064e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afc092064e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afc092064e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afc092064e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afc092064e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afc092064e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afc092064e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afc092064e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afc092064e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afc092064e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fc092064e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afc092064e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afc092064e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afc092064e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afc092064e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afc092064e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afc092064e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afc092064e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afc092064e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afc092064e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afc092064e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afc092064e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068800" y="922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SAE1.02 Société 4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S’initier au réseaux informatiques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4725" y="0"/>
            <a:ext cx="2277175" cy="227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7650" y="1283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Sommaire: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7650" y="1853850"/>
            <a:ext cx="3844500" cy="30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1.Gant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2.Matrice RACI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3.Recherche Matérielle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4.Draw.io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5.Maquette Cisco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6.Configuration VLAN, DNS, DHCP, ACL </a:t>
            </a:r>
            <a:r>
              <a:rPr lang="fr"/>
              <a:t>(Cisco)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7.Ping (Cisco)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8.Serveur Web Apache (VM)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4697500" y="1853850"/>
            <a:ext cx="3844500" cy="30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9.Câblage, adressage (réel)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10.Configuration VLAN, DHCP, DNS, ACL, NAT(réel)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11.Serveur Web Apache (réel)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12.Ping, Capture de trames (réel)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1.Gant </a:t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525" y="2378275"/>
            <a:ext cx="6590074" cy="25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7574" y="240375"/>
            <a:ext cx="4431650" cy="26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2.Matrice RACI 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025" y="2192300"/>
            <a:ext cx="568642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6770525" y="2873600"/>
            <a:ext cx="228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R = Responsable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A = Autorité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C = Consultant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I = Informé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3.Recherche Matérielle 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Matérielle requis 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Plus d’informations sur le matérielle utiliser dans le </a:t>
            </a:r>
            <a:r>
              <a:rPr lang="fr"/>
              <a:t>rapport</a:t>
            </a:r>
            <a:r>
              <a:rPr lang="fr"/>
              <a:t> final </a:t>
            </a:r>
            <a:r>
              <a:rPr lang="fr"/>
              <a:t>disponible</a:t>
            </a:r>
            <a:r>
              <a:rPr lang="fr"/>
              <a:t> sur le moodle.</a:t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3150" y="2131825"/>
            <a:ext cx="445770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4.Draw.io </a:t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925" y="592400"/>
            <a:ext cx="5208449" cy="437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5.Maquette Cisco </a:t>
            </a: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8913" y="778475"/>
            <a:ext cx="4858883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/>
        </p:nvSpPr>
        <p:spPr>
          <a:xfrm>
            <a:off x="338400" y="2742025"/>
            <a:ext cx="4708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fr" sz="800" u="sng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Machines Clientes et VLAN :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endParaRPr sz="8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10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192.168.10.0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b="1" lang="fr" sz="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20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192.168.20.0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8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g0/0.10 : 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192.168.10.1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g0/0.20 : 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192.168.20.1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PC0 :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 192.168.10.2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	PC1 : 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192.168.20.2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WEB : 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192.168.10.3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30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192.168.30.0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b="1" lang="fr" sz="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40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192.168.40.0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g0/0.30 :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 192.168.30.1			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g0/0.40 :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 192.168.40.1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PC2 :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 192.168.30.2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	PC3 :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 192.168.40.2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6.Configuration VLAN, DNS, DHCP, ACL, (Cisco)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 txBox="1"/>
          <p:nvPr/>
        </p:nvSpPr>
        <p:spPr>
          <a:xfrm>
            <a:off x="1012025" y="2049575"/>
            <a:ext cx="2611800" cy="27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 u="sng"/>
              <a:t>Switch :</a:t>
            </a:r>
            <a:r>
              <a:rPr b="1" lang="fr" sz="1800"/>
              <a:t>           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ADMIN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PERSONNEL			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30				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PRODUCTION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VIDEO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3159650" y="2393375"/>
            <a:ext cx="2977500" cy="23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		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5899125" y="2393375"/>
            <a:ext cx="3000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3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trunk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625400" y="1392725"/>
            <a:ext cx="7688700" cy="29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Routeur :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Configuration en mode trunk, et DHCP, DNS             </a:t>
            </a:r>
            <a:endParaRPr b="1" sz="18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192.168.10.0 255.255.255.0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192.168.10.1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192.168.20.0 255.255.255.0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192.168.20.1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					 </a:t>
            </a:r>
            <a:r>
              <a:rPr b="1"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b="1"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30						 </a:t>
            </a:r>
            <a:r>
              <a:rPr b="1"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192.168.30.0 255.255.255.0			  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192.168.30.1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192.168.40.0 255.255.255.0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192.168.40.1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4572000" y="926825"/>
            <a:ext cx="50247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 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no ip address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duplex auto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speed auto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b="1"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GigabitEthernet0/0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192.168.10.1 255.255.255.0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access-group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GigabitEthernet0/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0.2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192.168.20.1 255.255.255.0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access-group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 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0.3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192.168.30.1 255.255.255.0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access-group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1890050" y="19028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GigabitEthernet0/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0.4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192.168.40.1 255.255.255.0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access-group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192.168.10.0 0.0.0.255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192.168.20.0 0.0.0.255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192.168.30.0 0.0.0.255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192.168.40.0 0.0.0.255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69275" y="566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7.Ping (Cisco) </a:t>
            </a:r>
            <a:endParaRPr/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285" y="1797450"/>
            <a:ext cx="3233339" cy="321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/>
        </p:nvSpPr>
        <p:spPr>
          <a:xfrm>
            <a:off x="434900" y="1455725"/>
            <a:ext cx="29775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Routeur vers client 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3412400" y="765275"/>
            <a:ext cx="16410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Client vers routeur 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3025" y="1250375"/>
            <a:ext cx="3149875" cy="376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9280" y="1250375"/>
            <a:ext cx="3308121" cy="36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/>
        </p:nvSpPr>
        <p:spPr>
          <a:xfrm>
            <a:off x="6752125" y="826550"/>
            <a:ext cx="15429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Client vers client: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453925" y="618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8</a:t>
            </a:r>
            <a:r>
              <a:rPr lang="fr"/>
              <a:t>.Serveur Apache (VM) 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477550" y="1433300"/>
            <a:ext cx="3842400" cy="15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 u="sng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Installation du serveur Apache : </a:t>
            </a:r>
            <a:endParaRPr b="1" sz="1200" u="sng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sudo apt update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sudo apt install apache2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849" y="2425550"/>
            <a:ext cx="4596976" cy="15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/>
        </p:nvSpPr>
        <p:spPr>
          <a:xfrm>
            <a:off x="4962150" y="5696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450" y="4080050"/>
            <a:ext cx="4334600" cy="42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/>
        </p:nvSpPr>
        <p:spPr>
          <a:xfrm>
            <a:off x="5369650" y="1016575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 u="sng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Pour la modification du serveur Apache :</a:t>
            </a:r>
            <a:endParaRPr b="1" sz="1200" u="sng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cd /var/www/html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sudo -s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nano index.html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  <p:pic>
        <p:nvPicPr>
          <p:cNvPr id="170" name="Google Shape;17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3494" y="2571750"/>
            <a:ext cx="3851532" cy="14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727650" y="58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9.</a:t>
            </a:r>
            <a:r>
              <a:rPr lang="fr"/>
              <a:t>Câblage</a:t>
            </a:r>
            <a:r>
              <a:rPr lang="fr"/>
              <a:t>, Adressage (réel) </a:t>
            </a:r>
            <a:endParaRPr/>
          </a:p>
        </p:txBody>
      </p:sp>
      <p:graphicFrame>
        <p:nvGraphicFramePr>
          <p:cNvPr id="176" name="Google Shape;176;p25"/>
          <p:cNvGraphicFramePr/>
          <p:nvPr/>
        </p:nvGraphicFramePr>
        <p:xfrm>
          <a:off x="1512075" y="1361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{B1DD06D2-7CC3-41D0-9C27-41F41C236CA0}</a:tableStyleId>
              </a:tblPr>
              <a:tblGrid>
                <a:gridCol w="2039950"/>
                <a:gridCol w="2039950"/>
                <a:gridCol w="203995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Poste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Switch</a:t>
                      </a:r>
                      <a:endParaRPr sz="13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Pierre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1.5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1</a:t>
                      </a:r>
                      <a:endParaRPr sz="13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Rania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4.5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4</a:t>
                      </a:r>
                      <a:endParaRPr sz="13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Remi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3.5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3</a:t>
                      </a:r>
                      <a:endParaRPr sz="1300"/>
                    </a:p>
                  </a:txBody>
                  <a:tcPr marT="63500" marB="63500" marR="63500" marL="6350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Mathis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2.5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2</a:t>
                      </a:r>
                      <a:endParaRPr sz="13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graphicFrame>
        <p:nvGraphicFramePr>
          <p:cNvPr id="177" name="Google Shape;177;p25"/>
          <p:cNvGraphicFramePr/>
          <p:nvPr/>
        </p:nvGraphicFramePr>
        <p:xfrm>
          <a:off x="1600200" y="342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{B1DD06D2-7CC3-41D0-9C27-41F41C236CA0}</a:tableStyleId>
              </a:tblPr>
              <a:tblGrid>
                <a:gridCol w="2971800"/>
                <a:gridCol w="29718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Switch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Routeur </a:t>
                      </a:r>
                      <a:endParaRPr sz="13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g0/1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g0/0</a:t>
                      </a:r>
                      <a:endParaRPr sz="13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Adressage :</a:t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1344450" y="2070325"/>
            <a:ext cx="64551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u="sng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Machines Clientes et VLAN :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3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endParaRPr sz="13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10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192.168.10.0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b="1" lang="fr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20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192.168.20.0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13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g0/0.10 : 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192.168.10.1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g0/0.20 : 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192.168.20.1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PC0 :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 192.168.10.2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	PC1 : 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192.168.20.3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WEB : 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192.168.10.3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30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192.168.30.0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b="1" lang="fr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40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192.168.40.0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g0/0.30 :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 192.168.30.1			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g0/0.40 :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 192.168.40.1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PC2 :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 192.168.30.3 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PC3 :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 192.168.40.2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727650" y="6416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10.Configuration VLAN, DNS, DHCP, ACL, NAT </a:t>
            </a:r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598275" y="1834125"/>
            <a:ext cx="4062000" cy="24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 u="sng"/>
              <a:t>Switch :</a:t>
            </a:r>
            <a:r>
              <a:rPr b="1" lang="fr" sz="1800"/>
              <a:t>           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ADMIN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PERSONNEL						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30							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PRODUCTION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VIDEO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2781625" y="1792575"/>
            <a:ext cx="3000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	</a:t>
            </a:r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5657700" y="1898775"/>
            <a:ext cx="30000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3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Gigabit g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0/1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trunk</a:t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/>
        </p:nvSpPr>
        <p:spPr>
          <a:xfrm>
            <a:off x="259775" y="739950"/>
            <a:ext cx="43749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/>
              <a:t>Routeur </a:t>
            </a:r>
            <a:r>
              <a:rPr lang="fr" sz="1100"/>
              <a:t>   -   Configuration en mode trunk, et  DHCP, DNS	               </a:t>
            </a:r>
            <a:endParaRPr b="1" sz="1600" u="sng"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192.168.10.0 255.255.255.0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192.168.10.1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dns-server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10.0.0.1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192.168.20.0 255.255.255.0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192.168.20.1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dns-server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10.0.0.1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					 </a:t>
            </a:r>
            <a:r>
              <a:rPr b="1" lang="fr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b="1" lang="fr" sz="1000">
                <a:latin typeface="Courier New"/>
                <a:ea typeface="Courier New"/>
                <a:cs typeface="Courier New"/>
                <a:sym typeface="Courier New"/>
              </a:rPr>
              <a:t>                 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30						 </a:t>
            </a:r>
            <a:r>
              <a:rPr b="1" lang="fr" sz="1000"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192.168.30.0 255.255.255.0			  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192.168.30.1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dns-server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10.0.0.1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192.168.40.0 255.255.255.0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192.168.40.1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dns-server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10.0.0.1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4741725" y="1414050"/>
            <a:ext cx="36714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 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0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no ip address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duplex auto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speed auto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b="1"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GigabitEthernet0/0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.1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192.168.10.1 255.255.255.0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access-group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GigabitEthernet0/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0.2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192.168.20.1 255.255.255.0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access-group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/>
        </p:nvSpPr>
        <p:spPr>
          <a:xfrm>
            <a:off x="1834125" y="747825"/>
            <a:ext cx="5571300" cy="3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 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0.3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192.168.30.1 255.255.255.0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access-group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GigabitEthernet0/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0.4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 192.168.40.1 255.255.255.0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access-group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192.168.10.0 0.0.0.255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192.168.20.0 0.0.0.255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192.168.30.0 0.0.0.255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192.168.40.0 0.0.0.255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727650" y="53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11.Serveur Web apache (réel)</a:t>
            </a:r>
            <a:endParaRPr/>
          </a:p>
        </p:txBody>
      </p:sp>
      <p:sp>
        <p:nvSpPr>
          <p:cNvPr id="208" name="Google Shape;208;p30"/>
          <p:cNvSpPr txBox="1"/>
          <p:nvPr/>
        </p:nvSpPr>
        <p:spPr>
          <a:xfrm>
            <a:off x="432950" y="1141425"/>
            <a:ext cx="42411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 u="sng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Installation du serveur Apache : </a:t>
            </a:r>
            <a:endParaRPr b="1" sz="1000" u="sng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 u="sng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export http_proxy=cache-etu.univ-artois.fr:3128</a:t>
            </a:r>
            <a:endParaRPr sz="1000">
              <a:solidFill>
                <a:srgbClr val="3C7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export https_proxy=cache-etu.univ-artois.fr:3128</a:t>
            </a:r>
            <a:endParaRPr sz="1000">
              <a:solidFill>
                <a:srgbClr val="3C7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sudo apt update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sudo apt install apache2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25" y="2649824"/>
            <a:ext cx="4428781" cy="15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00" y="4293875"/>
            <a:ext cx="4690425" cy="4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0"/>
          <p:cNvSpPr txBox="1"/>
          <p:nvPr/>
        </p:nvSpPr>
        <p:spPr>
          <a:xfrm>
            <a:off x="5723500" y="99250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 u="sng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Pour la modification du serveur Apache :</a:t>
            </a:r>
            <a:endParaRPr b="1" sz="1200" u="sng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cd /var/www/html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sudo -s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nano index.html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2" name="Google Shape;21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1775" y="2571750"/>
            <a:ext cx="3446475" cy="13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12.Ping (réel) </a:t>
            </a:r>
            <a:endParaRPr/>
          </a:p>
        </p:txBody>
      </p:sp>
      <p:pic>
        <p:nvPicPr>
          <p:cNvPr id="218" name="Google Shape;2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6350" y="1919675"/>
            <a:ext cx="5108953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